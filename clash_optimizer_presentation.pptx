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250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64592" cy="164592"/>
          </a:xfrm>
          <a:prstGeom prst="ellipse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64592" cy="16459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Clash Royale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Deck Optimizer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Arena-weighted vulnerability analysis powered by real battle data &amp; ML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137160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2560320" cy="1463040"/>
          </a:xfrm>
          <a:prstGeom prst="rect">
            <a:avLst/>
          </a:prstGeom>
          <a:solidFill>
            <a:srgbClr val="131D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3017520"/>
            <a:ext cx="256032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6-factor vulnerability scoring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3017520"/>
            <a:ext cx="2560320" cy="1463040"/>
          </a:xfrm>
          <a:prstGeom prst="rect">
            <a:avLst/>
          </a:prstGeom>
          <a:solidFill>
            <a:srgbClr val="131D2E"/>
          </a:solidFill>
          <a:ln w="19050">
            <a:solidFill>
              <a:srgbClr val="C95F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20440" y="3017520"/>
            <a:ext cx="2560320" cy="64008"/>
          </a:xfrm>
          <a:prstGeom prst="rect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Feel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card swaps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017520"/>
            <a:ext cx="2560320" cy="1463040"/>
          </a:xfrm>
          <a:prstGeom prst="rect">
            <a:avLst/>
          </a:prstGeom>
          <a:solidFill>
            <a:srgbClr val="131D2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55080" y="3017520"/>
            <a:ext cx="25603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Top-player battle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Neuenschwander  · 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131D2E"/>
          </a:solidFill>
          <a:ln w="19050">
            <a:solidFill>
              <a:srgbClr val="C95F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64008"/>
          </a:xfrm>
          <a:prstGeom prst="rect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Royale Deck Building is Hard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cards to choose from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8-card decks must cover offense, defense, air, tanks, swarms &amp; elixir cycle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 changes constantly — what worked last season may not work 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478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players guess based on YouTube videos or copying pro decks blindly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131D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402336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57276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a system that analyzes a player's deck, understands the threats they face in their specific arena, and suggests targeted card swaps that actually make sense?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"swap Knight for Graveyard" — but WHY, and for decks that play alike.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508760" cy="3566160"/>
          </a:xfrm>
          <a:prstGeom prst="rect">
            <a:avLst/>
          </a:prstGeom>
          <a:solidFill>
            <a:srgbClr val="131D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50876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078992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enters tag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fetches their current deck + last 25 battles from Supercell's official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2514600"/>
            <a:ext cx="210312" cy="6400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84832" y="914400"/>
            <a:ext cx="1508760" cy="3566160"/>
          </a:xfrm>
          <a:prstGeom prst="rect">
            <a:avLst/>
          </a:prstGeom>
          <a:solidFill>
            <a:srgbClr val="131D2E"/>
          </a:solidFill>
          <a:ln w="19050">
            <a:solidFill>
              <a:srgbClr val="C95F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84832" y="914400"/>
            <a:ext cx="1508760" cy="64008"/>
          </a:xfrm>
          <a:prstGeom prst="rect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87752" y="1078992"/>
            <a:ext cx="502920" cy="502920"/>
          </a:xfrm>
          <a:prstGeom prst="ellipse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87752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76272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meta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6272" y="23774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log reveals what threats opponents actually run in this trophy range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93592" y="2514600"/>
            <a:ext cx="210312" cy="6400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03904" y="914400"/>
            <a:ext cx="1508760" cy="3566160"/>
          </a:xfrm>
          <a:prstGeom prst="rect">
            <a:avLst/>
          </a:prstGeom>
          <a:solidFill>
            <a:srgbClr val="131D2E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03904" y="914400"/>
            <a:ext cx="15087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06824" y="1078992"/>
            <a:ext cx="502920" cy="50292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06824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95344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deck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95344" y="23774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6-factor vulnerability profile: air, tanks, swarms, spells, buildings, elixir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12664" y="2514600"/>
            <a:ext cx="210312" cy="6400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2976" y="914400"/>
            <a:ext cx="1508760" cy="3566160"/>
          </a:xfrm>
          <a:prstGeom prst="rect">
            <a:avLst/>
          </a:prstGeom>
          <a:solidFill>
            <a:srgbClr val="131D2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22976" y="914400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25896" y="107899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25896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14416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14416" y="23774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search finds the single card swap that most improves the weighted score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31736" y="2514600"/>
            <a:ext cx="210312" cy="6400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42048" y="914400"/>
            <a:ext cx="1508760" cy="3566160"/>
          </a:xfrm>
          <a:prstGeom prst="rect">
            <a:avLst/>
          </a:prstGeom>
          <a:solidFill>
            <a:srgbClr val="131D2E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42048" y="914400"/>
            <a:ext cx="150876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44968" y="1078992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4496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33488" y="171907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33488" y="23774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role-aware swap recommendations with explanations shown to the player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Vulnerability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your deck like an investment portfolio — every card is an asset, every weakness is a risk factor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Exposure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shoot down Balloon, Minions, Lava Hound?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50292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377190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3740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56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Exposure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305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answers to Giant, Golem, PEKKA?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901952"/>
            <a:ext cx="50292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901952"/>
            <a:ext cx="2263140" cy="274320"/>
          </a:xfrm>
          <a:prstGeom prst="rect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54980" y="1883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5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478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Exposure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7523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clear Skeleton Army, Goblin Gang?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523744"/>
            <a:ext cx="50292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2523744"/>
            <a:ext cx="1005840" cy="27432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2505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Exposure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374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your troops safe from Fireball, Poison, Log?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145536"/>
            <a:ext cx="50292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3145536"/>
            <a:ext cx="276606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5790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721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Exposure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995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destroy defensive buildings (Tesla, Cannon)?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767328"/>
            <a:ext cx="50292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3767328"/>
            <a:ext cx="17602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5206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Elixir Risk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6177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deck too slow to cycle your win condition?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4389120"/>
            <a:ext cx="5029200" cy="2743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4389120"/>
            <a:ext cx="3017520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4370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21040" y="1234440"/>
            <a:ext cx="594360" cy="3657600"/>
          </a:xfrm>
          <a:prstGeom prst="rect">
            <a:avLst/>
          </a:prstGeom>
          <a:solidFill>
            <a:srgbClr val="131D2E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 rot="16200000">
            <a:off x="8046720" y="228600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 is 0–1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your arena's actual threat rates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Arena Meta Weighting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131D2E"/>
          </a:solidFill>
          <a:ln w="19050">
            <a:solidFill>
              <a:srgbClr val="C95F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64008"/>
          </a:xfrm>
          <a:prstGeom prst="rect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threats are equal in your arena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3,000 trophies: Hog Rider is everywhere → air exposure matters more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22576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7,000 trophies: Golem beatdown dominates → tank exposure is critical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at your last 25 battles and measure what % of opponents run each threat type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2219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rates become weights in the vulnerability score formula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131D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20624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024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Σ (exposure_factor × threat_rate)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3749040" cy="365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16712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2121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Exposure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21214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2121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15768"/>
            <a:ext cx="201168" cy="201168"/>
          </a:xfrm>
          <a:prstGeom prst="ellipse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Exposure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26700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5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26700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64408"/>
            <a:ext cx="201168" cy="20116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Exposure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32186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2186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813048"/>
            <a:ext cx="201168" cy="20116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Exposure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767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37673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final score = better optimized deck for your arena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Adding Game Feel: Card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1645920"/>
          </a:xfrm>
          <a:prstGeom prst="rect">
            <a:avLst/>
          </a:prstGeom>
          <a:solidFill>
            <a:srgbClr val="1A0A0A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Before: Nonsensical Swap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Knight → Graveyard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"ground troops" statistically,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play completely differently!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1645920"/>
          </a:xfrm>
          <a:prstGeom prst="rect">
            <a:avLst/>
          </a:prstGeom>
          <a:solidFill>
            <a:srgbClr val="0A1A0A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931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960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After: Role-Aware Swap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Knight → Ice Golem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share: MINI_TANK + CYCLE roles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replacement that preserves deck function!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Card Roles — Each card gets a frozenset of roles it fills: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2011680" cy="777240"/>
          </a:xfrm>
          <a:prstGeom prst="rect">
            <a:avLst/>
          </a:prstGeom>
          <a:solidFill>
            <a:srgbClr val="131D2E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64008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WIN_CONDITION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Hog, Graveyard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3108960"/>
            <a:ext cx="2011680" cy="777240"/>
          </a:xfrm>
          <a:prstGeom prst="rect">
            <a:avLst/>
          </a:prstGeom>
          <a:solidFill>
            <a:srgbClr val="131D2E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0" y="3108960"/>
            <a:ext cx="64008" cy="777240"/>
          </a:xfrm>
          <a:prstGeom prst="rect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9748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5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MINI_TANK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Knight, Ice Golem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2011680" cy="777240"/>
          </a:xfrm>
          <a:prstGeom prst="rect">
            <a:avLst/>
          </a:prstGeom>
          <a:solidFill>
            <a:srgbClr val="131D2E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64008" cy="7772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Skeletons, Ice Spirit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3108960"/>
            <a:ext cx="2011680" cy="777240"/>
          </a:xfrm>
          <a:prstGeom prst="rect">
            <a:avLst/>
          </a:prstGeom>
          <a:solidFill>
            <a:srgbClr val="131D2E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49440" y="3108960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866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SWARM_CLEAR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Valkyrie, Arrows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2011680" cy="777240"/>
          </a:xfrm>
          <a:prstGeom prst="rect">
            <a:avLst/>
          </a:prstGeom>
          <a:solidFill>
            <a:srgbClr val="131D2E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4023360"/>
            <a:ext cx="64008" cy="7772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ANTI_AIR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Minion, Tesla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4023360"/>
            <a:ext cx="2011680" cy="777240"/>
          </a:xfrm>
          <a:prstGeom prst="rect">
            <a:avLst/>
          </a:prstGeom>
          <a:solidFill>
            <a:srgbClr val="131D2E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560320" y="4023360"/>
            <a:ext cx="64008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6974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TANK_KILLER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Inferno Tower, PEKKA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023360"/>
            <a:ext cx="2011680" cy="777240"/>
          </a:xfrm>
          <a:prstGeom prst="rect">
            <a:avLst/>
          </a:prstGeom>
          <a:solidFill>
            <a:srgbClr val="131D2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4023360"/>
            <a:ext cx="64008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SUPPORT_TROOP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Musketeer, Witch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9440" y="4023360"/>
            <a:ext cx="2011680" cy="777240"/>
          </a:xfrm>
          <a:prstGeom prst="rect">
            <a:avLst/>
          </a:prstGeom>
          <a:solidFill>
            <a:srgbClr val="131D2E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949440" y="4023360"/>
            <a:ext cx="64008" cy="77724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866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60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Tesla, Cannon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Battle Data: Co-occurrence Confidence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tell us IF a swap is valid. Battle data tells us WHICH valid swap is most likely to win.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840480" cy="3657600"/>
          </a:xfrm>
          <a:prstGeom prst="rect">
            <a:avLst/>
          </a:prstGeom>
          <a:solidFill>
            <a:srgbClr val="131D2E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your last 25 battles to wins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winning deck, record which 8 cards appeared together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co-occurrence matrix: how often does Card B appear when Card A wins?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4787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co-occurrence = high affinity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5137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bonus (up to +35%) boosts role-valid swaps that fit your winning pattern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170432"/>
            <a:ext cx="4297680" cy="3657600"/>
          </a:xfrm>
          <a:prstGeom prst="rect">
            <a:avLst/>
          </a:prstGeom>
          <a:solidFill>
            <a:srgbClr val="131D2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1170432"/>
            <a:ext cx="4297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Hog Rider Deck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1737360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 OUT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719072"/>
            <a:ext cx="365760" cy="438912"/>
          </a:xfrm>
          <a:prstGeom prst="rect">
            <a:avLst/>
          </a:prstGeom>
          <a:solidFill>
            <a:srgbClr val="131D2E"/>
          </a:solidFill>
          <a:ln w="12700">
            <a:solidFill>
              <a:srgbClr val="131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9440" y="1719072"/>
            <a:ext cx="1737360" cy="438912"/>
          </a:xfrm>
          <a:prstGeom prst="rect">
            <a:avLst/>
          </a:prstGeom>
          <a:solidFill>
            <a:srgbClr val="0A1A0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Golem  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249424"/>
            <a:ext cx="4023360" cy="384048"/>
          </a:xfrm>
          <a:prstGeom prst="rect">
            <a:avLst/>
          </a:prstGeom>
          <a:solidFill>
            <a:srgbClr val="0D1A0D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roles: MINI_TANK  +  CYCLE  →  swap is valid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score improvement: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090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Exposure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61888" y="3127248"/>
            <a:ext cx="1463040" cy="2011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61888" y="3127248"/>
            <a:ext cx="1097280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04888" y="3108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61888" y="3364992"/>
            <a:ext cx="1463040" cy="2011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61888" y="3364992"/>
            <a:ext cx="614477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2085" y="33467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36576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Elixir Risk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61888" y="3694176"/>
            <a:ext cx="1463040" cy="2011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61888" y="3694176"/>
            <a:ext cx="877824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85432" y="36758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61888" y="3931920"/>
            <a:ext cx="1463040" cy="2011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961888" y="3931920"/>
            <a:ext cx="43891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4652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3440" y="4224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61888" y="4261104"/>
            <a:ext cx="1463040" cy="2011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961888" y="4261104"/>
            <a:ext cx="790042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97650" y="42428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61888" y="4498848"/>
            <a:ext cx="1463040" cy="2011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961888" y="4498848"/>
            <a:ext cx="482803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90411" y="4480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4681728"/>
            <a:ext cx="164592" cy="118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64608" y="4645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77840" y="4681728"/>
            <a:ext cx="16459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779008" y="46451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swap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83680" y="46268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improvement  +  battle-proven pairing bonus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Next: ML-Powered Card Embeddings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Word2Vec learns word meaning from sentences, we train it on winning decks to learn card meaning from co-occurrence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08760" cy="2103120"/>
          </a:xfrm>
          <a:prstGeom prst="rect">
            <a:avLst/>
          </a:prstGeom>
          <a:solidFill>
            <a:srgbClr val="131D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50876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get_location_rankings()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global leaderboard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240280"/>
            <a:ext cx="2286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11680" y="1234440"/>
            <a:ext cx="1508760" cy="2103120"/>
          </a:xfrm>
          <a:prstGeom prst="rect">
            <a:avLst/>
          </a:prstGeom>
          <a:solidFill>
            <a:srgbClr val="131D2E"/>
          </a:solidFill>
          <a:ln w="19050">
            <a:solidFill>
              <a:srgbClr val="C95F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234440"/>
            <a:ext cx="1508760" cy="64008"/>
          </a:xfrm>
          <a:prstGeom prst="rect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1371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Logs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25 battles per player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~25,000 battles total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240280"/>
            <a:ext cx="2286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49040" y="1234440"/>
            <a:ext cx="1508760" cy="2103120"/>
          </a:xfrm>
          <a:prstGeom prst="rect">
            <a:avLst/>
          </a:prstGeom>
          <a:solidFill>
            <a:srgbClr val="131D2E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49040" y="1234440"/>
            <a:ext cx="15087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0" y="1371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Decks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8-card decks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only → training corpus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240280"/>
            <a:ext cx="2286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0" y="1234440"/>
            <a:ext cx="1508760" cy="2103120"/>
          </a:xfrm>
          <a:prstGeom prst="rect">
            <a:avLst/>
          </a:prstGeom>
          <a:solidFill>
            <a:srgbClr val="131D2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0" y="1234440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371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deck = a sentence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= a word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2240280"/>
            <a:ext cx="2286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23760" y="1234440"/>
            <a:ext cx="1508760" cy="2103120"/>
          </a:xfrm>
          <a:prstGeom prst="rect">
            <a:avLst/>
          </a:prstGeom>
          <a:solidFill>
            <a:srgbClr val="131D2E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23760" y="1234440"/>
            <a:ext cx="150876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0" y="1371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210312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cards cluster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in vector space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4023360" cy="1371600"/>
          </a:xfrm>
          <a:prstGeom prst="rect">
            <a:avLst/>
          </a:prstGeom>
          <a:solidFill>
            <a:srgbClr val="131D2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520440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Word2Vec Analogy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005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"king" - "man" + "woman" = "queen"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"Hog Rider" - "Knight" + "Ice Golem" ≈ valid swap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4114800" cy="1371600"/>
          </a:xfrm>
          <a:prstGeom prst="rect">
            <a:avLst/>
          </a:prstGeom>
          <a:solidFill>
            <a:srgbClr val="131D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3520440"/>
            <a:ext cx="41148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3611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Enables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400507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used in similar ways end up close together in vector space — giving the optimizer data-driven game feel from the best players in the world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93392" cy="3931920"/>
          </a:xfrm>
          <a:prstGeom prst="rect">
            <a:avLst/>
          </a:prstGeom>
          <a:solidFill>
            <a:srgbClr val="131D2E"/>
          </a:solidFill>
          <a:ln w="1905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93392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async Python web framework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11226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— async HTTP client for API calls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7157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— database 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319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user data &amp; snapshots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92277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authentication tokens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914400"/>
            <a:ext cx="1993392" cy="3931920"/>
          </a:xfrm>
          <a:prstGeom prst="rect">
            <a:avLst/>
          </a:prstGeom>
          <a:solidFill>
            <a:srgbClr val="131D2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96312" y="914400"/>
            <a:ext cx="19933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87752" y="1005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87752" y="1508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vulnerability analyzer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87752" y="211226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local search optimizer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87752" y="27157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meta weighter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87752" y="3319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registry (14 card roles)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7752" y="392277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confidence scoring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2584" y="914400"/>
            <a:ext cx="1993392" cy="3931920"/>
          </a:xfrm>
          <a:prstGeom prst="rect">
            <a:avLst/>
          </a:prstGeom>
          <a:solidFill>
            <a:srgbClr val="131D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72584" y="914400"/>
            <a:ext cx="1993392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64024" y="1005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64024" y="1508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Supercell Official API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64024" y="211226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RoyaleAPI proxy (static IP)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64024" y="27157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RoyaleAPI JSON datasets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64024" y="3319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card embeddings (planned)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64024" y="392277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gensim — ML training library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48856" y="914400"/>
            <a:ext cx="1993392" cy="3931920"/>
          </a:xfrm>
          <a:prstGeom prst="rect">
            <a:avLst/>
          </a:prstGeom>
          <a:solidFill>
            <a:srgbClr val="131D2E"/>
          </a:solidFill>
          <a:ln w="19050">
            <a:solidFill>
              <a:srgbClr val="C95F1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48856" y="914400"/>
            <a:ext cx="1993392" cy="64008"/>
          </a:xfrm>
          <a:prstGeom prst="rect">
            <a:avLst/>
          </a:prstGeom>
          <a:solidFill>
            <a:srgbClr val="C95F1A"/>
          </a:solidFill>
          <a:ln w="12700">
            <a:solidFill>
              <a:srgbClr val="C95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0296" y="100584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5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Deploy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0296" y="1508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(no framework)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40296" y="211226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CSS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0296" y="271576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— cloud deployment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40296" y="33192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 control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40296" y="3922776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LibreOffice-free static serving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A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2926080"/>
          </a:xfrm>
          <a:prstGeom prst="rect">
            <a:avLst/>
          </a:prstGeom>
          <a:solidFill>
            <a:srgbClr val="131D2E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What's Working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deck analysis with 6 vulnerability scores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391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meta weighting from real battle logs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optimizer (Knight → Knight-like cards only)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449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co-occurrence affinity bonus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478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accounts, saved snapshots, favorites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507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 running on FastAPI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4206240" cy="2926080"/>
          </a:xfrm>
          <a:prstGeom prst="rect">
            <a:avLst/>
          </a:prstGeom>
          <a:solidFill>
            <a:srgbClr val="131D2E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420624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What's Next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5361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card embeddings from top 1000 players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0391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 prediction model (logistic regression)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5420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archetype detection (Hog Cycle, Golem Beatdown…)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044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level awareness (only suggest owned cards)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547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 Railway for public access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0A1828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1605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same patterns that make a great Clash Royale deck also mirror quantitative finance — factor exposure, portfolio rebalancing, and meta-weighted risk scoring.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Macintosh PowerPoint</Application>
  <PresentationFormat>On-screen Show (16:9)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Clash Royale Deck Optimizer</dc:title>
  <dc:subject>PptxGenJS Presentation</dc:subject>
  <dc:creator>PptxGenJS</dc:creator>
  <cp:lastModifiedBy>Anders Neuenschwander</cp:lastModifiedBy>
  <cp:revision>1</cp:revision>
  <dcterms:created xsi:type="dcterms:W3CDTF">2026-04-10T21:51:40Z</dcterms:created>
  <dcterms:modified xsi:type="dcterms:W3CDTF">2026-04-10T21:54:13Z</dcterms:modified>
</cp:coreProperties>
</file>